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Barlow" panose="00000500000000000000" pitchFamily="2" charset="0"/>
      <p:regular r:id="rId9"/>
    </p:embeddedFont>
    <p:embeddedFont>
      <p:font typeface="Barlow Bold" panose="00000800000000000000" charset="0"/>
      <p:regular r:id="rId10"/>
    </p:embeddedFont>
    <p:embeddedFont>
      <p:font typeface="Calibri" panose="020F0502020204030204" pitchFamily="34" charset="0"/>
      <p:regular r:id="rId11"/>
      <p:bold r:id="rId12"/>
      <p:italic r:id="rId13"/>
      <p:boldItalic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F3D"/>
        </a:solidFill>
        <a:effectLst/>
      </p:bgPr>
    </p:bg>
    <p:spTree>
      <p:nvGrpSpPr>
        <p:cNvPr id="1" name=""/>
        <p:cNvGrpSpPr/>
        <p:nvPr/>
      </p:nvGrpSpPr>
      <p:grpSpPr>
        <a:xfrm>
          <a:off x="0" y="0"/>
          <a:ext cx="0" cy="0"/>
          <a:chOff x="0" y="0"/>
          <a:chExt cx="0" cy="0"/>
        </a:xfrm>
      </p:grpSpPr>
      <p:grpSp>
        <p:nvGrpSpPr>
          <p:cNvPr id="2" name="Group 2"/>
          <p:cNvGrpSpPr/>
          <p:nvPr/>
        </p:nvGrpSpPr>
        <p:grpSpPr>
          <a:xfrm>
            <a:off x="8991600" y="0"/>
            <a:ext cx="9296400" cy="10287000"/>
            <a:chOff x="0" y="0"/>
            <a:chExt cx="2448435" cy="2709333"/>
          </a:xfrm>
        </p:grpSpPr>
        <p:sp>
          <p:nvSpPr>
            <p:cNvPr id="3" name="Freeform 3"/>
            <p:cNvSpPr/>
            <p:nvPr/>
          </p:nvSpPr>
          <p:spPr>
            <a:xfrm>
              <a:off x="0" y="0"/>
              <a:ext cx="2448435" cy="2709333"/>
            </a:xfrm>
            <a:custGeom>
              <a:avLst/>
              <a:gdLst/>
              <a:ahLst/>
              <a:cxnLst/>
              <a:rect l="l" t="t" r="r" b="b"/>
              <a:pathLst>
                <a:path w="2448435" h="2709333">
                  <a:moveTo>
                    <a:pt x="0" y="0"/>
                  </a:moveTo>
                  <a:lnTo>
                    <a:pt x="2448435" y="0"/>
                  </a:lnTo>
                  <a:lnTo>
                    <a:pt x="2448435" y="2709333"/>
                  </a:lnTo>
                  <a:lnTo>
                    <a:pt x="0" y="2709333"/>
                  </a:lnTo>
                  <a:close/>
                </a:path>
              </a:pathLst>
            </a:custGeom>
            <a:solidFill>
              <a:srgbClr val="00E5FF"/>
            </a:solidFill>
          </p:spPr>
        </p:sp>
        <p:sp>
          <p:nvSpPr>
            <p:cNvPr id="4" name="TextBox 4"/>
            <p:cNvSpPr txBox="1"/>
            <p:nvPr/>
          </p:nvSpPr>
          <p:spPr>
            <a:xfrm>
              <a:off x="0" y="-38100"/>
              <a:ext cx="2448435" cy="2747433"/>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a:off x="9687423" y="666750"/>
            <a:ext cx="7933827" cy="8984524"/>
            <a:chOff x="0" y="0"/>
            <a:chExt cx="977808" cy="1107302"/>
          </a:xfrm>
        </p:grpSpPr>
        <p:sp>
          <p:nvSpPr>
            <p:cNvPr id="6" name="Freeform 6"/>
            <p:cNvSpPr/>
            <p:nvPr/>
          </p:nvSpPr>
          <p:spPr>
            <a:xfrm>
              <a:off x="0" y="0"/>
              <a:ext cx="977808" cy="1107302"/>
            </a:xfrm>
            <a:custGeom>
              <a:avLst/>
              <a:gdLst/>
              <a:ahLst/>
              <a:cxnLst/>
              <a:rect l="l" t="t" r="r" b="b"/>
              <a:pathLst>
                <a:path w="977808" h="1107302">
                  <a:moveTo>
                    <a:pt x="36105" y="0"/>
                  </a:moveTo>
                  <a:lnTo>
                    <a:pt x="941703" y="0"/>
                  </a:lnTo>
                  <a:cubicBezTo>
                    <a:pt x="951279" y="0"/>
                    <a:pt x="960462" y="3804"/>
                    <a:pt x="967233" y="10575"/>
                  </a:cubicBezTo>
                  <a:cubicBezTo>
                    <a:pt x="974004" y="17346"/>
                    <a:pt x="977808" y="26529"/>
                    <a:pt x="977808" y="36105"/>
                  </a:cubicBezTo>
                  <a:lnTo>
                    <a:pt x="977808" y="1071197"/>
                  </a:lnTo>
                  <a:cubicBezTo>
                    <a:pt x="977808" y="1091137"/>
                    <a:pt x="961643" y="1107302"/>
                    <a:pt x="941703" y="1107302"/>
                  </a:cubicBezTo>
                  <a:lnTo>
                    <a:pt x="36105" y="1107302"/>
                  </a:lnTo>
                  <a:cubicBezTo>
                    <a:pt x="26529" y="1107302"/>
                    <a:pt x="17346" y="1103498"/>
                    <a:pt x="10575" y="1096727"/>
                  </a:cubicBezTo>
                  <a:cubicBezTo>
                    <a:pt x="3804" y="1089956"/>
                    <a:pt x="0" y="1080772"/>
                    <a:pt x="0" y="1071197"/>
                  </a:cubicBezTo>
                  <a:lnTo>
                    <a:pt x="0" y="36105"/>
                  </a:lnTo>
                  <a:cubicBezTo>
                    <a:pt x="0" y="16165"/>
                    <a:pt x="16165" y="0"/>
                    <a:pt x="36105" y="0"/>
                  </a:cubicBezTo>
                  <a:close/>
                </a:path>
              </a:pathLst>
            </a:custGeom>
            <a:blipFill>
              <a:blip r:embed="rId2"/>
              <a:stretch>
                <a:fillRect t="-173" b="-173"/>
              </a:stretch>
            </a:blipFill>
          </p:spPr>
        </p:sp>
      </p:grpSp>
      <p:sp>
        <p:nvSpPr>
          <p:cNvPr id="7" name="TextBox 7"/>
          <p:cNvSpPr txBox="1"/>
          <p:nvPr/>
        </p:nvSpPr>
        <p:spPr>
          <a:xfrm>
            <a:off x="666750" y="1719722"/>
            <a:ext cx="6886575" cy="4108451"/>
          </a:xfrm>
          <a:prstGeom prst="rect">
            <a:avLst/>
          </a:prstGeom>
        </p:spPr>
        <p:txBody>
          <a:bodyPr lIns="0" tIns="0" rIns="0" bIns="0" rtlCol="0" anchor="t">
            <a:spAutoFit/>
          </a:bodyPr>
          <a:lstStyle/>
          <a:p>
            <a:pPr marL="0" lvl="0" indent="0" algn="l">
              <a:lnSpc>
                <a:spcPts val="8000"/>
              </a:lnSpc>
            </a:pPr>
            <a:r>
              <a:rPr lang="en-US" sz="8000" spc="-200">
                <a:solidFill>
                  <a:srgbClr val="00E5FF"/>
                </a:solidFill>
                <a:latin typeface="Barlow"/>
                <a:ea typeface="Barlow"/>
                <a:cs typeface="Barlow"/>
                <a:sym typeface="Barlow"/>
              </a:rPr>
              <a:t>RFID Attendance: The Future of Presence</a:t>
            </a:r>
          </a:p>
        </p:txBody>
      </p:sp>
      <p:sp>
        <p:nvSpPr>
          <p:cNvPr id="8" name="TextBox 8"/>
          <p:cNvSpPr txBox="1"/>
          <p:nvPr/>
        </p:nvSpPr>
        <p:spPr>
          <a:xfrm>
            <a:off x="398602" y="8850644"/>
            <a:ext cx="6886575" cy="1099820"/>
          </a:xfrm>
          <a:prstGeom prst="rect">
            <a:avLst/>
          </a:prstGeom>
        </p:spPr>
        <p:txBody>
          <a:bodyPr lIns="0" tIns="0" rIns="0" bIns="0" rtlCol="0" anchor="t">
            <a:spAutoFit/>
          </a:bodyPr>
          <a:lstStyle/>
          <a:p>
            <a:pPr algn="l">
              <a:lnSpc>
                <a:spcPts val="4480"/>
              </a:lnSpc>
            </a:pPr>
            <a:r>
              <a:rPr lang="en-US" sz="3200" spc="-80">
                <a:solidFill>
                  <a:srgbClr val="00E5FF"/>
                </a:solidFill>
                <a:latin typeface="Barlow"/>
                <a:ea typeface="Barlow"/>
                <a:cs typeface="Barlow"/>
                <a:sym typeface="Barlow"/>
              </a:rPr>
              <a:t>Titiksha Gupta – 24DEC023</a:t>
            </a:r>
          </a:p>
          <a:p>
            <a:pPr algn="l">
              <a:lnSpc>
                <a:spcPts val="4480"/>
              </a:lnSpc>
            </a:pPr>
            <a:r>
              <a:rPr lang="en-US" sz="3200" spc="-80">
                <a:solidFill>
                  <a:srgbClr val="00E5FF"/>
                </a:solidFill>
                <a:latin typeface="Barlow"/>
                <a:ea typeface="Barlow"/>
                <a:cs typeface="Barlow"/>
                <a:sym typeface="Barlow"/>
              </a:rPr>
              <a:t>Arush Dakhera – 24DEC045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2A50"/>
        </a:solidFill>
        <a:effectLst/>
      </p:bgPr>
    </p:bg>
    <p:spTree>
      <p:nvGrpSpPr>
        <p:cNvPr id="1" name=""/>
        <p:cNvGrpSpPr/>
        <p:nvPr/>
      </p:nvGrpSpPr>
      <p:grpSpPr>
        <a:xfrm>
          <a:off x="0" y="0"/>
          <a:ext cx="0" cy="0"/>
          <a:chOff x="0" y="0"/>
          <a:chExt cx="0" cy="0"/>
        </a:xfrm>
      </p:grpSpPr>
      <p:grpSp>
        <p:nvGrpSpPr>
          <p:cNvPr id="2" name="Group 2"/>
          <p:cNvGrpSpPr/>
          <p:nvPr/>
        </p:nvGrpSpPr>
        <p:grpSpPr>
          <a:xfrm>
            <a:off x="-272852" y="399011"/>
            <a:ext cx="7837607" cy="9488978"/>
            <a:chOff x="0" y="0"/>
            <a:chExt cx="2064226" cy="2499155"/>
          </a:xfrm>
        </p:grpSpPr>
        <p:sp>
          <p:nvSpPr>
            <p:cNvPr id="3" name="Freeform 3"/>
            <p:cNvSpPr/>
            <p:nvPr/>
          </p:nvSpPr>
          <p:spPr>
            <a:xfrm>
              <a:off x="0" y="0"/>
              <a:ext cx="2064226" cy="2499155"/>
            </a:xfrm>
            <a:custGeom>
              <a:avLst/>
              <a:gdLst/>
              <a:ahLst/>
              <a:cxnLst/>
              <a:rect l="l" t="t" r="r" b="b"/>
              <a:pathLst>
                <a:path w="2064226" h="2499155">
                  <a:moveTo>
                    <a:pt x="36548" y="0"/>
                  </a:moveTo>
                  <a:lnTo>
                    <a:pt x="2027677" y="0"/>
                  </a:lnTo>
                  <a:cubicBezTo>
                    <a:pt x="2037371" y="0"/>
                    <a:pt x="2046667" y="3851"/>
                    <a:pt x="2053521" y="10705"/>
                  </a:cubicBezTo>
                  <a:cubicBezTo>
                    <a:pt x="2060375" y="17559"/>
                    <a:pt x="2064226" y="26855"/>
                    <a:pt x="2064226" y="36548"/>
                  </a:cubicBezTo>
                  <a:lnTo>
                    <a:pt x="2064226" y="2462606"/>
                  </a:lnTo>
                  <a:cubicBezTo>
                    <a:pt x="2064226" y="2472300"/>
                    <a:pt x="2060375" y="2481596"/>
                    <a:pt x="2053521" y="2488450"/>
                  </a:cubicBezTo>
                  <a:cubicBezTo>
                    <a:pt x="2046667" y="2495304"/>
                    <a:pt x="2037371" y="2499155"/>
                    <a:pt x="2027677" y="2499155"/>
                  </a:cubicBezTo>
                  <a:lnTo>
                    <a:pt x="36548" y="2499155"/>
                  </a:lnTo>
                  <a:cubicBezTo>
                    <a:pt x="26855" y="2499155"/>
                    <a:pt x="17559" y="2495304"/>
                    <a:pt x="10705" y="2488450"/>
                  </a:cubicBezTo>
                  <a:cubicBezTo>
                    <a:pt x="3851" y="2481596"/>
                    <a:pt x="0" y="2472300"/>
                    <a:pt x="0" y="2462606"/>
                  </a:cubicBezTo>
                  <a:lnTo>
                    <a:pt x="0" y="36548"/>
                  </a:lnTo>
                  <a:cubicBezTo>
                    <a:pt x="0" y="26855"/>
                    <a:pt x="3851" y="17559"/>
                    <a:pt x="10705" y="10705"/>
                  </a:cubicBezTo>
                  <a:cubicBezTo>
                    <a:pt x="17559" y="3851"/>
                    <a:pt x="26855" y="0"/>
                    <a:pt x="36548" y="0"/>
                  </a:cubicBezTo>
                  <a:close/>
                </a:path>
              </a:pathLst>
            </a:custGeom>
            <a:solidFill>
              <a:srgbClr val="000000">
                <a:alpha val="0"/>
              </a:srgbClr>
            </a:solidFill>
            <a:ln w="28575" cap="rnd">
              <a:solidFill>
                <a:srgbClr val="253439"/>
              </a:solidFill>
              <a:prstDash val="sysDot"/>
              <a:round/>
            </a:ln>
          </p:spPr>
        </p:sp>
        <p:sp>
          <p:nvSpPr>
            <p:cNvPr id="4" name="TextBox 4"/>
            <p:cNvSpPr txBox="1"/>
            <p:nvPr/>
          </p:nvSpPr>
          <p:spPr>
            <a:xfrm>
              <a:off x="0" y="-38100"/>
              <a:ext cx="2064226" cy="2537255"/>
            </a:xfrm>
            <a:prstGeom prst="rect">
              <a:avLst/>
            </a:prstGeom>
          </p:spPr>
          <p:txBody>
            <a:bodyPr lIns="50800" tIns="50800" rIns="50800" bIns="50800" rtlCol="0" anchor="ctr"/>
            <a:lstStyle/>
            <a:p>
              <a:pPr marL="0" lvl="0" indent="0" algn="ctr">
                <a:lnSpc>
                  <a:spcPts val="3080"/>
                </a:lnSpc>
                <a:spcBef>
                  <a:spcPct val="0"/>
                </a:spcBef>
              </a:pPr>
              <a:endParaRPr/>
            </a:p>
          </p:txBody>
        </p:sp>
      </p:grpSp>
      <p:grpSp>
        <p:nvGrpSpPr>
          <p:cNvPr id="5" name="Group 5"/>
          <p:cNvGrpSpPr/>
          <p:nvPr/>
        </p:nvGrpSpPr>
        <p:grpSpPr>
          <a:xfrm>
            <a:off x="263444" y="666723"/>
            <a:ext cx="7516771" cy="8953500"/>
            <a:chOff x="0" y="0"/>
            <a:chExt cx="817139" cy="973324"/>
          </a:xfrm>
        </p:grpSpPr>
        <p:sp>
          <p:nvSpPr>
            <p:cNvPr id="6" name="Freeform 6"/>
            <p:cNvSpPr/>
            <p:nvPr/>
          </p:nvSpPr>
          <p:spPr>
            <a:xfrm>
              <a:off x="0" y="0"/>
              <a:ext cx="817139" cy="973324"/>
            </a:xfrm>
            <a:custGeom>
              <a:avLst/>
              <a:gdLst/>
              <a:ahLst/>
              <a:cxnLst/>
              <a:rect l="l" t="t" r="r" b="b"/>
              <a:pathLst>
                <a:path w="817139" h="973324">
                  <a:moveTo>
                    <a:pt x="25749" y="0"/>
                  </a:moveTo>
                  <a:lnTo>
                    <a:pt x="791390" y="0"/>
                  </a:lnTo>
                  <a:cubicBezTo>
                    <a:pt x="798219" y="0"/>
                    <a:pt x="804768" y="2713"/>
                    <a:pt x="809597" y="7542"/>
                  </a:cubicBezTo>
                  <a:cubicBezTo>
                    <a:pt x="814426" y="12370"/>
                    <a:pt x="817139" y="18920"/>
                    <a:pt x="817139" y="25749"/>
                  </a:cubicBezTo>
                  <a:lnTo>
                    <a:pt x="817139" y="947575"/>
                  </a:lnTo>
                  <a:cubicBezTo>
                    <a:pt x="817139" y="954404"/>
                    <a:pt x="814426" y="960953"/>
                    <a:pt x="809597" y="965782"/>
                  </a:cubicBezTo>
                  <a:cubicBezTo>
                    <a:pt x="804768" y="970611"/>
                    <a:pt x="798219" y="973324"/>
                    <a:pt x="791390" y="973324"/>
                  </a:cubicBezTo>
                  <a:lnTo>
                    <a:pt x="25749" y="973324"/>
                  </a:lnTo>
                  <a:cubicBezTo>
                    <a:pt x="18920" y="973324"/>
                    <a:pt x="12370" y="970611"/>
                    <a:pt x="7542" y="965782"/>
                  </a:cubicBezTo>
                  <a:cubicBezTo>
                    <a:pt x="2713" y="960953"/>
                    <a:pt x="0" y="954404"/>
                    <a:pt x="0" y="947575"/>
                  </a:cubicBezTo>
                  <a:lnTo>
                    <a:pt x="0" y="25749"/>
                  </a:lnTo>
                  <a:cubicBezTo>
                    <a:pt x="0" y="18920"/>
                    <a:pt x="2713" y="12370"/>
                    <a:pt x="7542" y="7542"/>
                  </a:cubicBezTo>
                  <a:cubicBezTo>
                    <a:pt x="12370" y="2713"/>
                    <a:pt x="18920" y="0"/>
                    <a:pt x="25749" y="0"/>
                  </a:cubicBezTo>
                  <a:close/>
                </a:path>
              </a:pathLst>
            </a:custGeom>
            <a:blipFill>
              <a:blip r:embed="rId2"/>
              <a:stretch>
                <a:fillRect t="-346" b="-346"/>
              </a:stretch>
            </a:blipFill>
          </p:spPr>
        </p:sp>
      </p:grpSp>
      <p:sp>
        <p:nvSpPr>
          <p:cNvPr id="7" name="Freeform 7"/>
          <p:cNvSpPr/>
          <p:nvPr/>
        </p:nvSpPr>
        <p:spPr>
          <a:xfrm>
            <a:off x="17259300" y="9238008"/>
            <a:ext cx="382242" cy="382242"/>
          </a:xfrm>
          <a:custGeom>
            <a:avLst/>
            <a:gdLst/>
            <a:ahLst/>
            <a:cxnLst/>
            <a:rect l="l" t="t" r="r" b="b"/>
            <a:pathLst>
              <a:path w="382242" h="382242">
                <a:moveTo>
                  <a:pt x="0" y="0"/>
                </a:moveTo>
                <a:lnTo>
                  <a:pt x="382242" y="0"/>
                </a:lnTo>
                <a:lnTo>
                  <a:pt x="382242" y="382242"/>
                </a:lnTo>
                <a:lnTo>
                  <a:pt x="0" y="3822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8934450" y="503786"/>
            <a:ext cx="8324850" cy="1937385"/>
          </a:xfrm>
          <a:prstGeom prst="rect">
            <a:avLst/>
          </a:prstGeom>
        </p:spPr>
        <p:txBody>
          <a:bodyPr lIns="0" tIns="0" rIns="0" bIns="0" rtlCol="0" anchor="t">
            <a:spAutoFit/>
          </a:bodyPr>
          <a:lstStyle/>
          <a:p>
            <a:pPr marL="0" lvl="0" indent="0" algn="l">
              <a:lnSpc>
                <a:spcPts val="7560"/>
              </a:lnSpc>
            </a:pPr>
            <a:r>
              <a:rPr lang="en-US" sz="7200" spc="-180">
                <a:solidFill>
                  <a:srgbClr val="FFFFFF"/>
                </a:solidFill>
                <a:latin typeface="Barlow"/>
                <a:ea typeface="Barlow"/>
                <a:cs typeface="Barlow"/>
                <a:sym typeface="Barlow"/>
              </a:rPr>
              <a:t>Introducing the RFID System</a:t>
            </a:r>
          </a:p>
        </p:txBody>
      </p:sp>
      <p:sp>
        <p:nvSpPr>
          <p:cNvPr id="9" name="TextBox 9"/>
          <p:cNvSpPr txBox="1"/>
          <p:nvPr/>
        </p:nvSpPr>
        <p:spPr>
          <a:xfrm>
            <a:off x="8449559" y="4388413"/>
            <a:ext cx="8324850" cy="2957830"/>
          </a:xfrm>
          <a:prstGeom prst="rect">
            <a:avLst/>
          </a:prstGeom>
        </p:spPr>
        <p:txBody>
          <a:bodyPr lIns="0" tIns="0" rIns="0" bIns="0" rtlCol="0" anchor="t">
            <a:spAutoFit/>
          </a:bodyPr>
          <a:lstStyle/>
          <a:p>
            <a:pPr marL="604523" lvl="1" indent="-302261" algn="l">
              <a:lnSpc>
                <a:spcPts val="3920"/>
              </a:lnSpc>
              <a:buFont typeface="Arial"/>
              <a:buChar char="•"/>
            </a:pPr>
            <a:r>
              <a:rPr lang="en-US" sz="2800" b="1" spc="-70">
                <a:solidFill>
                  <a:srgbClr val="00E5FF"/>
                </a:solidFill>
                <a:latin typeface="Barlow Bold"/>
                <a:ea typeface="Barlow Bold"/>
                <a:cs typeface="Barlow Bold"/>
                <a:sym typeface="Barlow Bold"/>
              </a:rPr>
              <a:t>Fast &amp; accurate attendance</a:t>
            </a:r>
          </a:p>
          <a:p>
            <a:pPr marL="604523" lvl="1" indent="-302261" algn="l">
              <a:lnSpc>
                <a:spcPts val="3920"/>
              </a:lnSpc>
              <a:buFont typeface="Arial"/>
              <a:buChar char="•"/>
            </a:pPr>
            <a:r>
              <a:rPr lang="en-US" sz="2800" b="1" spc="-70">
                <a:solidFill>
                  <a:srgbClr val="00E5FF"/>
                </a:solidFill>
                <a:latin typeface="Barlow Bold"/>
                <a:ea typeface="Barlow Bold"/>
                <a:cs typeface="Barlow Bold"/>
                <a:sym typeface="Barlow Bold"/>
              </a:rPr>
              <a:t>Eliminates manual errors</a:t>
            </a:r>
          </a:p>
          <a:p>
            <a:pPr marL="604523" lvl="1" indent="-302261" algn="l">
              <a:lnSpc>
                <a:spcPts val="3920"/>
              </a:lnSpc>
              <a:buFont typeface="Arial"/>
              <a:buChar char="•"/>
            </a:pPr>
            <a:r>
              <a:rPr lang="en-US" sz="2800" b="1" spc="-70">
                <a:solidFill>
                  <a:srgbClr val="00E5FF"/>
                </a:solidFill>
                <a:latin typeface="Barlow Bold"/>
                <a:ea typeface="Barlow Bold"/>
                <a:cs typeface="Barlow Bold"/>
                <a:sym typeface="Barlow Bold"/>
              </a:rPr>
              <a:t>Prevents proxy attendance</a:t>
            </a:r>
          </a:p>
          <a:p>
            <a:pPr marL="604523" lvl="1" indent="-302261" algn="l">
              <a:lnSpc>
                <a:spcPts val="3920"/>
              </a:lnSpc>
              <a:buFont typeface="Arial"/>
              <a:buChar char="•"/>
            </a:pPr>
            <a:r>
              <a:rPr lang="en-US" sz="2800" b="1" spc="-70">
                <a:solidFill>
                  <a:srgbClr val="00E5FF"/>
                </a:solidFill>
                <a:latin typeface="Barlow Bold"/>
                <a:ea typeface="Barlow Bold"/>
                <a:cs typeface="Barlow Bold"/>
                <a:sym typeface="Barlow Bold"/>
              </a:rPr>
              <a:t>Logs data instantly using microcontroller + LCD + buzzer confirmation</a:t>
            </a:r>
          </a:p>
          <a:p>
            <a:pPr marL="0" lvl="0" indent="0" algn="l">
              <a:lnSpc>
                <a:spcPts val="3920"/>
              </a:lnSpc>
            </a:pPr>
            <a:endParaRPr lang="en-US" sz="2800" b="1" spc="-70">
              <a:solidFill>
                <a:srgbClr val="00E5FF"/>
              </a:solidFill>
              <a:latin typeface="Barlow Bold"/>
              <a:ea typeface="Barlow Bold"/>
              <a:cs typeface="Barlow Bold"/>
              <a:sym typeface="Barlow Bold"/>
            </a:endParaRPr>
          </a:p>
        </p:txBody>
      </p:sp>
      <p:sp>
        <p:nvSpPr>
          <p:cNvPr id="10" name="TextBox 10"/>
          <p:cNvSpPr txBox="1"/>
          <p:nvPr/>
        </p:nvSpPr>
        <p:spPr>
          <a:xfrm>
            <a:off x="8596444" y="7279568"/>
            <a:ext cx="9000862" cy="1020853"/>
          </a:xfrm>
          <a:prstGeom prst="rect">
            <a:avLst/>
          </a:prstGeom>
        </p:spPr>
        <p:txBody>
          <a:bodyPr lIns="0" tIns="0" rIns="0" bIns="0" rtlCol="0" anchor="t">
            <a:spAutoFit/>
          </a:bodyPr>
          <a:lstStyle/>
          <a:p>
            <a:pPr marL="0" lvl="0" indent="0" algn="l">
              <a:lnSpc>
                <a:spcPts val="4107"/>
              </a:lnSpc>
              <a:spcBef>
                <a:spcPct val="0"/>
              </a:spcBef>
            </a:pPr>
            <a:r>
              <a:rPr lang="en-US" sz="2933" u="none" strike="noStrike" spc="-73">
                <a:solidFill>
                  <a:srgbClr val="FFFFFF"/>
                </a:solidFill>
                <a:latin typeface="Barlow"/>
                <a:ea typeface="Barlow"/>
                <a:cs typeface="Barlow"/>
                <a:sym typeface="Barlow"/>
              </a:rPr>
              <a:t>RFID uses radio waves to read a unique UID from each card, making it ideal for institutions requiring speed + accuracy.</a:t>
            </a:r>
          </a:p>
        </p:txBody>
      </p:sp>
      <p:sp>
        <p:nvSpPr>
          <p:cNvPr id="11" name="TextBox 11"/>
          <p:cNvSpPr txBox="1"/>
          <p:nvPr/>
        </p:nvSpPr>
        <p:spPr>
          <a:xfrm>
            <a:off x="8486893" y="2977823"/>
            <a:ext cx="9573878" cy="1130116"/>
          </a:xfrm>
          <a:prstGeom prst="rect">
            <a:avLst/>
          </a:prstGeom>
        </p:spPr>
        <p:txBody>
          <a:bodyPr lIns="0" tIns="0" rIns="0" bIns="0" rtlCol="0" anchor="t">
            <a:spAutoFit/>
          </a:bodyPr>
          <a:lstStyle/>
          <a:p>
            <a:pPr algn="l">
              <a:lnSpc>
                <a:spcPts val="2964"/>
              </a:lnSpc>
              <a:spcBef>
                <a:spcPct val="0"/>
              </a:spcBef>
            </a:pPr>
            <a:r>
              <a:rPr lang="en-US" sz="2823" spc="-70">
                <a:solidFill>
                  <a:srgbClr val="FFFFFF"/>
                </a:solidFill>
                <a:latin typeface="Barlow"/>
                <a:ea typeface="Barlow"/>
                <a:cs typeface="Barlow"/>
                <a:sym typeface="Barlow"/>
              </a:rPr>
              <a:t>RFID-based attendance system automates traditional roll-calling by using contactless RFID cards.</a:t>
            </a:r>
          </a:p>
          <a:p>
            <a:pPr algn="l">
              <a:lnSpc>
                <a:spcPts val="2964"/>
              </a:lnSpc>
              <a:spcBef>
                <a:spcPct val="0"/>
              </a:spcBef>
            </a:pPr>
            <a:r>
              <a:rPr lang="en-US" sz="2823" spc="-70">
                <a:solidFill>
                  <a:srgbClr val="FFFFFF"/>
                </a:solidFill>
                <a:latin typeface="Barlow"/>
                <a:ea typeface="Barlow"/>
                <a:cs typeface="Barlow"/>
                <a:sym typeface="Barlow"/>
              </a:rPr>
              <a:t> It enables: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F3D"/>
        </a:solidFill>
        <a:effectLst/>
      </p:bgPr>
    </p:bg>
    <p:spTree>
      <p:nvGrpSpPr>
        <p:cNvPr id="1" name=""/>
        <p:cNvGrpSpPr/>
        <p:nvPr/>
      </p:nvGrpSpPr>
      <p:grpSpPr>
        <a:xfrm>
          <a:off x="0" y="0"/>
          <a:ext cx="0" cy="0"/>
          <a:chOff x="0" y="0"/>
          <a:chExt cx="0" cy="0"/>
        </a:xfrm>
      </p:grpSpPr>
      <p:sp>
        <p:nvSpPr>
          <p:cNvPr id="2" name="Freeform 2"/>
          <p:cNvSpPr/>
          <p:nvPr/>
        </p:nvSpPr>
        <p:spPr>
          <a:xfrm>
            <a:off x="17239008" y="9258300"/>
            <a:ext cx="382242" cy="382242"/>
          </a:xfrm>
          <a:custGeom>
            <a:avLst/>
            <a:gdLst/>
            <a:ahLst/>
            <a:cxnLst/>
            <a:rect l="l" t="t" r="r" b="b"/>
            <a:pathLst>
              <a:path w="382242" h="382242">
                <a:moveTo>
                  <a:pt x="0" y="0"/>
                </a:moveTo>
                <a:lnTo>
                  <a:pt x="382242" y="0"/>
                </a:lnTo>
                <a:lnTo>
                  <a:pt x="382242" y="382242"/>
                </a:lnTo>
                <a:lnTo>
                  <a:pt x="0" y="3822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738826" y="1854710"/>
            <a:ext cx="6691302" cy="6045338"/>
          </a:xfrm>
          <a:custGeom>
            <a:avLst/>
            <a:gdLst/>
            <a:ahLst/>
            <a:cxnLst/>
            <a:rect l="l" t="t" r="r" b="b"/>
            <a:pathLst>
              <a:path w="6691302" h="6045338">
                <a:moveTo>
                  <a:pt x="0" y="0"/>
                </a:moveTo>
                <a:lnTo>
                  <a:pt x="6691303" y="0"/>
                </a:lnTo>
                <a:lnTo>
                  <a:pt x="6691303" y="6045338"/>
                </a:lnTo>
                <a:lnTo>
                  <a:pt x="0" y="6045338"/>
                </a:lnTo>
                <a:lnTo>
                  <a:pt x="0" y="0"/>
                </a:lnTo>
                <a:close/>
              </a:path>
            </a:pathLst>
          </a:custGeom>
          <a:blipFill>
            <a:blip r:embed="rId4"/>
            <a:stretch>
              <a:fillRect b="-3629"/>
            </a:stretch>
          </a:blipFill>
        </p:spPr>
      </p:sp>
      <p:sp>
        <p:nvSpPr>
          <p:cNvPr id="4" name="TextBox 4"/>
          <p:cNvSpPr txBox="1"/>
          <p:nvPr/>
        </p:nvSpPr>
        <p:spPr>
          <a:xfrm>
            <a:off x="618182" y="503786"/>
            <a:ext cx="14784753" cy="984885"/>
          </a:xfrm>
          <a:prstGeom prst="rect">
            <a:avLst/>
          </a:prstGeom>
        </p:spPr>
        <p:txBody>
          <a:bodyPr lIns="0" tIns="0" rIns="0" bIns="0" rtlCol="0" anchor="t">
            <a:spAutoFit/>
          </a:bodyPr>
          <a:lstStyle/>
          <a:p>
            <a:pPr marL="0" lvl="0" indent="0" algn="l">
              <a:lnSpc>
                <a:spcPts val="7560"/>
              </a:lnSpc>
              <a:spcBef>
                <a:spcPct val="0"/>
              </a:spcBef>
            </a:pPr>
            <a:r>
              <a:rPr lang="en-US" sz="7200" spc="-180">
                <a:solidFill>
                  <a:srgbClr val="FFFFFF"/>
                </a:solidFill>
                <a:latin typeface="Barlow"/>
                <a:ea typeface="Barlow"/>
                <a:cs typeface="Barlow"/>
                <a:sym typeface="Barlow"/>
              </a:rPr>
              <a:t>S</a:t>
            </a:r>
            <a:r>
              <a:rPr lang="en-US" sz="7200" u="none" strike="noStrike" spc="-180">
                <a:solidFill>
                  <a:srgbClr val="FFFFFF"/>
                </a:solidFill>
                <a:latin typeface="Barlow"/>
                <a:ea typeface="Barlow"/>
                <a:cs typeface="Barlow"/>
                <a:sym typeface="Barlow"/>
              </a:rPr>
              <a:t>ystem Working &amp; Architecture</a:t>
            </a:r>
          </a:p>
        </p:txBody>
      </p:sp>
      <p:sp>
        <p:nvSpPr>
          <p:cNvPr id="5" name="TextBox 5"/>
          <p:cNvSpPr txBox="1"/>
          <p:nvPr/>
        </p:nvSpPr>
        <p:spPr>
          <a:xfrm>
            <a:off x="618182" y="3246855"/>
            <a:ext cx="8525818" cy="3451754"/>
          </a:xfrm>
          <a:prstGeom prst="rect">
            <a:avLst/>
          </a:prstGeom>
        </p:spPr>
        <p:txBody>
          <a:bodyPr lIns="0" tIns="0" rIns="0" bIns="0" rtlCol="0" anchor="t">
            <a:spAutoFit/>
          </a:bodyPr>
          <a:lstStyle/>
          <a:p>
            <a:pPr algn="l">
              <a:lnSpc>
                <a:spcPts val="3986"/>
              </a:lnSpc>
            </a:pPr>
            <a:r>
              <a:rPr lang="en-US" sz="2847" spc="-71">
                <a:solidFill>
                  <a:srgbClr val="00B8E6"/>
                </a:solidFill>
                <a:latin typeface="Barlow"/>
                <a:ea typeface="Barlow"/>
                <a:cs typeface="Barlow"/>
                <a:sym typeface="Barlow"/>
              </a:rPr>
              <a:t>•ESP8266(NODEMCU)</a:t>
            </a:r>
          </a:p>
          <a:p>
            <a:pPr algn="l">
              <a:lnSpc>
                <a:spcPts val="3986"/>
              </a:lnSpc>
            </a:pPr>
            <a:r>
              <a:rPr lang="en-US" sz="2847" spc="-71">
                <a:solidFill>
                  <a:srgbClr val="00B8E6"/>
                </a:solidFill>
                <a:latin typeface="Barlow"/>
                <a:ea typeface="Barlow"/>
                <a:cs typeface="Barlow"/>
                <a:sym typeface="Barlow"/>
              </a:rPr>
              <a:t>•</a:t>
            </a:r>
            <a:r>
              <a:rPr lang="en-US" sz="2847" u="none" strike="noStrike" spc="-71">
                <a:solidFill>
                  <a:srgbClr val="00B8E6"/>
                </a:solidFill>
                <a:latin typeface="Barlow"/>
                <a:ea typeface="Barlow"/>
                <a:cs typeface="Barlow"/>
                <a:sym typeface="Barlow"/>
              </a:rPr>
              <a:t>RFID READER (RC522)</a:t>
            </a:r>
          </a:p>
          <a:p>
            <a:pPr algn="l">
              <a:lnSpc>
                <a:spcPts val="3986"/>
              </a:lnSpc>
            </a:pPr>
            <a:r>
              <a:rPr lang="en-US" sz="2847" u="none" strike="noStrike" spc="-71">
                <a:solidFill>
                  <a:srgbClr val="00B8E6"/>
                </a:solidFill>
                <a:latin typeface="Barlow"/>
                <a:ea typeface="Barlow"/>
                <a:cs typeface="Barlow"/>
                <a:sym typeface="Barlow"/>
              </a:rPr>
              <a:t>•RFID TAGS/CARDS</a:t>
            </a:r>
          </a:p>
          <a:p>
            <a:pPr algn="l">
              <a:lnSpc>
                <a:spcPts val="3986"/>
              </a:lnSpc>
            </a:pPr>
            <a:r>
              <a:rPr lang="en-US" sz="2847" u="none" strike="noStrike" spc="-71">
                <a:solidFill>
                  <a:srgbClr val="00B8E6"/>
                </a:solidFill>
                <a:latin typeface="Barlow"/>
                <a:ea typeface="Barlow"/>
                <a:cs typeface="Barlow"/>
                <a:sym typeface="Barlow"/>
              </a:rPr>
              <a:t>•16X2 LCD DISPLAY</a:t>
            </a:r>
          </a:p>
          <a:p>
            <a:pPr algn="l">
              <a:lnSpc>
                <a:spcPts val="3986"/>
              </a:lnSpc>
            </a:pPr>
            <a:r>
              <a:rPr lang="en-US" sz="2847" u="none" strike="noStrike" spc="-71">
                <a:solidFill>
                  <a:srgbClr val="00B8E6"/>
                </a:solidFill>
                <a:latin typeface="Barlow"/>
                <a:ea typeface="Barlow"/>
                <a:cs typeface="Barlow"/>
                <a:sym typeface="Barlow"/>
              </a:rPr>
              <a:t>•BUZZER + LEDS</a:t>
            </a:r>
          </a:p>
          <a:p>
            <a:pPr algn="l">
              <a:lnSpc>
                <a:spcPts val="3986"/>
              </a:lnSpc>
            </a:pPr>
            <a:r>
              <a:rPr lang="en-US" sz="2847" u="none" strike="noStrike" spc="-71">
                <a:solidFill>
                  <a:srgbClr val="00B8E6"/>
                </a:solidFill>
                <a:latin typeface="Barlow"/>
                <a:ea typeface="Barlow"/>
                <a:cs typeface="Barlow"/>
                <a:sym typeface="Barlow"/>
              </a:rPr>
              <a:t>•JUMPER WIRES + BREADBOARD</a:t>
            </a:r>
          </a:p>
          <a:p>
            <a:pPr algn="l">
              <a:lnSpc>
                <a:spcPts val="3986"/>
              </a:lnSpc>
            </a:pPr>
            <a:endParaRPr lang="en-US" sz="2847" u="none" strike="noStrike" spc="-71">
              <a:solidFill>
                <a:srgbClr val="00B8E6"/>
              </a:solidFill>
              <a:latin typeface="Barlow"/>
              <a:ea typeface="Barlow"/>
              <a:cs typeface="Barlow"/>
              <a:sym typeface="Barlow"/>
            </a:endParaRPr>
          </a:p>
        </p:txBody>
      </p:sp>
      <p:sp>
        <p:nvSpPr>
          <p:cNvPr id="6" name="TextBox 6"/>
          <p:cNvSpPr txBox="1"/>
          <p:nvPr/>
        </p:nvSpPr>
        <p:spPr>
          <a:xfrm>
            <a:off x="618182" y="1981487"/>
            <a:ext cx="8297218" cy="922467"/>
          </a:xfrm>
          <a:prstGeom prst="rect">
            <a:avLst/>
          </a:prstGeom>
        </p:spPr>
        <p:txBody>
          <a:bodyPr wrap="square" lIns="0" tIns="0" rIns="0" bIns="0" rtlCol="0" anchor="t">
            <a:spAutoFit/>
          </a:bodyPr>
          <a:lstStyle/>
          <a:p>
            <a:pPr algn="ctr">
              <a:lnSpc>
                <a:spcPts val="7060"/>
              </a:lnSpc>
              <a:spcBef>
                <a:spcPct val="0"/>
              </a:spcBef>
            </a:pPr>
            <a:r>
              <a:rPr lang="en-US" sz="6724" spc="-168">
                <a:solidFill>
                  <a:srgbClr val="FFFFFF"/>
                </a:solidFill>
                <a:latin typeface="Barlow"/>
                <a:ea typeface="Barlow"/>
                <a:cs typeface="Barlow"/>
                <a:sym typeface="Barlow"/>
              </a:rPr>
              <a:t>Components Used </a:t>
            </a:r>
          </a:p>
        </p:txBody>
      </p:sp>
      <p:sp>
        <p:nvSpPr>
          <p:cNvPr id="7" name="TextBox 7"/>
          <p:cNvSpPr txBox="1"/>
          <p:nvPr/>
        </p:nvSpPr>
        <p:spPr>
          <a:xfrm>
            <a:off x="203771" y="7376055"/>
            <a:ext cx="11200647" cy="1641524"/>
          </a:xfrm>
          <a:prstGeom prst="rect">
            <a:avLst/>
          </a:prstGeom>
        </p:spPr>
        <p:txBody>
          <a:bodyPr lIns="0" tIns="0" rIns="0" bIns="0" rtlCol="0" anchor="t">
            <a:spAutoFit/>
          </a:bodyPr>
          <a:lstStyle/>
          <a:p>
            <a:pPr algn="l">
              <a:lnSpc>
                <a:spcPts val="3274"/>
              </a:lnSpc>
              <a:spcBef>
                <a:spcPct val="0"/>
              </a:spcBef>
            </a:pPr>
            <a:r>
              <a:rPr lang="en-US" sz="3118" spc="-77">
                <a:solidFill>
                  <a:srgbClr val="FFFFFF"/>
                </a:solidFill>
                <a:latin typeface="Barlow"/>
                <a:ea typeface="Barlow"/>
                <a:cs typeface="Barlow"/>
                <a:sym typeface="Barlow"/>
              </a:rPr>
              <a:t>RFID enables unique, contactless identification → fast, secure, automated attendance marking.</a:t>
            </a:r>
          </a:p>
          <a:p>
            <a:pPr algn="l">
              <a:lnSpc>
                <a:spcPts val="3274"/>
              </a:lnSpc>
              <a:spcBef>
                <a:spcPct val="0"/>
              </a:spcBef>
            </a:pPr>
            <a:r>
              <a:rPr lang="en-US" sz="3118" spc="-77">
                <a:solidFill>
                  <a:srgbClr val="00E5FF"/>
                </a:solidFill>
                <a:latin typeface="Barlow"/>
                <a:ea typeface="Barlow"/>
                <a:cs typeface="Barlow"/>
                <a:sym typeface="Barlow"/>
              </a:rPr>
              <a:t> </a:t>
            </a:r>
            <a:r>
              <a:rPr lang="en-US" sz="3118" spc="-77">
                <a:solidFill>
                  <a:srgbClr val="FFFFFF"/>
                </a:solidFill>
                <a:latin typeface="Barlow"/>
                <a:ea typeface="Barlow"/>
                <a:cs typeface="Barlow"/>
                <a:sym typeface="Barlow"/>
              </a:rPr>
              <a:t>Features:</a:t>
            </a:r>
          </a:p>
          <a:p>
            <a:pPr marL="673257" lvl="1" indent="-336628" algn="l">
              <a:lnSpc>
                <a:spcPts val="3274"/>
              </a:lnSpc>
              <a:buFont typeface="Arial"/>
              <a:buChar char="•"/>
            </a:pPr>
            <a:r>
              <a:rPr lang="en-US" sz="3118" spc="-77">
                <a:solidFill>
                  <a:srgbClr val="00E5FF"/>
                </a:solidFill>
                <a:latin typeface="Barlow"/>
                <a:ea typeface="Barlow"/>
                <a:cs typeface="Barlow"/>
                <a:sym typeface="Barlow"/>
              </a:rPr>
              <a:t>RFID Tag → RC522 → NodeMCU → LCD + Buzzer → Google Sheet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F3D"/>
        </a:solidFill>
        <a:effectLst/>
      </p:bgPr>
    </p:bg>
    <p:spTree>
      <p:nvGrpSpPr>
        <p:cNvPr id="1" name=""/>
        <p:cNvGrpSpPr/>
        <p:nvPr/>
      </p:nvGrpSpPr>
      <p:grpSpPr>
        <a:xfrm>
          <a:off x="0" y="0"/>
          <a:ext cx="0" cy="0"/>
          <a:chOff x="0" y="0"/>
          <a:chExt cx="0" cy="0"/>
        </a:xfrm>
      </p:grpSpPr>
      <p:sp>
        <p:nvSpPr>
          <p:cNvPr id="2" name="Freeform 2"/>
          <p:cNvSpPr/>
          <p:nvPr/>
        </p:nvSpPr>
        <p:spPr>
          <a:xfrm>
            <a:off x="497090" y="2887863"/>
            <a:ext cx="5763456" cy="5242586"/>
          </a:xfrm>
          <a:custGeom>
            <a:avLst/>
            <a:gdLst/>
            <a:ahLst/>
            <a:cxnLst/>
            <a:rect l="l" t="t" r="r" b="b"/>
            <a:pathLst>
              <a:path w="5763456" h="5242586">
                <a:moveTo>
                  <a:pt x="0" y="0"/>
                </a:moveTo>
                <a:lnTo>
                  <a:pt x="5763456" y="0"/>
                </a:lnTo>
                <a:lnTo>
                  <a:pt x="5763456" y="5242586"/>
                </a:lnTo>
                <a:lnTo>
                  <a:pt x="0" y="5242586"/>
                </a:lnTo>
                <a:lnTo>
                  <a:pt x="0" y="0"/>
                </a:lnTo>
                <a:close/>
              </a:path>
            </a:pathLst>
          </a:custGeom>
          <a:blipFill>
            <a:blip r:embed="rId2"/>
            <a:stretch>
              <a:fillRect r="-4652"/>
            </a:stretch>
          </a:blipFill>
        </p:spPr>
      </p:sp>
      <p:sp>
        <p:nvSpPr>
          <p:cNvPr id="3" name="Freeform 3"/>
          <p:cNvSpPr/>
          <p:nvPr/>
        </p:nvSpPr>
        <p:spPr>
          <a:xfrm>
            <a:off x="6630886" y="2930422"/>
            <a:ext cx="5597247" cy="5316575"/>
          </a:xfrm>
          <a:custGeom>
            <a:avLst/>
            <a:gdLst/>
            <a:ahLst/>
            <a:cxnLst/>
            <a:rect l="l" t="t" r="r" b="b"/>
            <a:pathLst>
              <a:path w="5597247" h="5316575">
                <a:moveTo>
                  <a:pt x="0" y="0"/>
                </a:moveTo>
                <a:lnTo>
                  <a:pt x="5597247" y="0"/>
                </a:lnTo>
                <a:lnTo>
                  <a:pt x="5597247" y="5316576"/>
                </a:lnTo>
                <a:lnTo>
                  <a:pt x="0" y="5316576"/>
                </a:lnTo>
                <a:lnTo>
                  <a:pt x="0" y="0"/>
                </a:lnTo>
                <a:close/>
              </a:path>
            </a:pathLst>
          </a:custGeom>
          <a:blipFill>
            <a:blip r:embed="rId3"/>
            <a:stretch>
              <a:fillRect r="-17420"/>
            </a:stretch>
          </a:blipFill>
        </p:spPr>
      </p:sp>
      <p:sp>
        <p:nvSpPr>
          <p:cNvPr id="4" name="Freeform 4"/>
          <p:cNvSpPr/>
          <p:nvPr/>
        </p:nvSpPr>
        <p:spPr>
          <a:xfrm>
            <a:off x="12598473" y="2972982"/>
            <a:ext cx="5689527" cy="5231457"/>
          </a:xfrm>
          <a:custGeom>
            <a:avLst/>
            <a:gdLst/>
            <a:ahLst/>
            <a:cxnLst/>
            <a:rect l="l" t="t" r="r" b="b"/>
            <a:pathLst>
              <a:path w="5689527" h="5231457">
                <a:moveTo>
                  <a:pt x="0" y="0"/>
                </a:moveTo>
                <a:lnTo>
                  <a:pt x="5689527" y="0"/>
                </a:lnTo>
                <a:lnTo>
                  <a:pt x="5689527" y="5231457"/>
                </a:lnTo>
                <a:lnTo>
                  <a:pt x="0" y="5231457"/>
                </a:lnTo>
                <a:lnTo>
                  <a:pt x="0" y="0"/>
                </a:lnTo>
                <a:close/>
              </a:path>
            </a:pathLst>
          </a:custGeom>
          <a:blipFill>
            <a:blip r:embed="rId4"/>
            <a:stretch>
              <a:fillRect r="-7533"/>
            </a:stretch>
          </a:blipFill>
        </p:spPr>
      </p:sp>
      <p:sp>
        <p:nvSpPr>
          <p:cNvPr id="5" name="TextBox 5"/>
          <p:cNvSpPr txBox="1"/>
          <p:nvPr/>
        </p:nvSpPr>
        <p:spPr>
          <a:xfrm>
            <a:off x="301094" y="479818"/>
            <a:ext cx="10055624" cy="1946910"/>
          </a:xfrm>
          <a:prstGeom prst="rect">
            <a:avLst/>
          </a:prstGeom>
        </p:spPr>
        <p:txBody>
          <a:bodyPr lIns="0" tIns="0" rIns="0" bIns="0" rtlCol="0" anchor="t">
            <a:spAutoFit/>
          </a:bodyPr>
          <a:lstStyle/>
          <a:p>
            <a:pPr marL="0" lvl="0" indent="0" algn="l">
              <a:lnSpc>
                <a:spcPts val="7559"/>
              </a:lnSpc>
              <a:spcBef>
                <a:spcPct val="0"/>
              </a:spcBef>
            </a:pPr>
            <a:r>
              <a:rPr lang="en-US" sz="7199" spc="-179">
                <a:solidFill>
                  <a:srgbClr val="FFFFFF"/>
                </a:solidFill>
                <a:latin typeface="Barlow"/>
                <a:ea typeface="Barlow"/>
                <a:cs typeface="Barlow"/>
                <a:sym typeface="Barlow"/>
              </a:rPr>
              <a:t>Work</a:t>
            </a:r>
            <a:r>
              <a:rPr lang="en-US" sz="7199" u="none" strike="noStrike" spc="-179">
                <a:solidFill>
                  <a:srgbClr val="FFFFFF"/>
                </a:solidFill>
                <a:latin typeface="Barlow"/>
                <a:ea typeface="Barlow"/>
                <a:cs typeface="Barlow"/>
                <a:sym typeface="Barlow"/>
              </a:rPr>
              <a:t>ing Principle</a:t>
            </a:r>
          </a:p>
          <a:p>
            <a:pPr marL="0" lvl="0" indent="0" algn="l">
              <a:lnSpc>
                <a:spcPts val="7559"/>
              </a:lnSpc>
              <a:spcBef>
                <a:spcPct val="0"/>
              </a:spcBef>
            </a:pPr>
            <a:endParaRPr lang="en-US" sz="7199" u="none" strike="noStrike" spc="-179">
              <a:solidFill>
                <a:srgbClr val="FFFFFF"/>
              </a:solidFill>
              <a:latin typeface="Barlow"/>
              <a:ea typeface="Barlow"/>
              <a:cs typeface="Barlow"/>
              <a:sym typeface="Barlow"/>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2A50"/>
        </a:solidFill>
        <a:effectLst/>
      </p:bgPr>
    </p:bg>
    <p:spTree>
      <p:nvGrpSpPr>
        <p:cNvPr id="1" name=""/>
        <p:cNvGrpSpPr/>
        <p:nvPr/>
      </p:nvGrpSpPr>
      <p:grpSpPr>
        <a:xfrm>
          <a:off x="0" y="0"/>
          <a:ext cx="0" cy="0"/>
          <a:chOff x="0" y="0"/>
          <a:chExt cx="0" cy="0"/>
        </a:xfrm>
      </p:grpSpPr>
      <p:sp>
        <p:nvSpPr>
          <p:cNvPr id="2" name="TextBox 2"/>
          <p:cNvSpPr txBox="1"/>
          <p:nvPr/>
        </p:nvSpPr>
        <p:spPr>
          <a:xfrm>
            <a:off x="1394938" y="914715"/>
            <a:ext cx="12639675" cy="984885"/>
          </a:xfrm>
          <a:prstGeom prst="rect">
            <a:avLst/>
          </a:prstGeom>
        </p:spPr>
        <p:txBody>
          <a:bodyPr lIns="0" tIns="0" rIns="0" bIns="0" rtlCol="0" anchor="t">
            <a:spAutoFit/>
          </a:bodyPr>
          <a:lstStyle/>
          <a:p>
            <a:pPr marL="0" lvl="0" indent="0" algn="l">
              <a:lnSpc>
                <a:spcPts val="7560"/>
              </a:lnSpc>
              <a:spcBef>
                <a:spcPct val="0"/>
              </a:spcBef>
            </a:pPr>
            <a:r>
              <a:rPr lang="en-US" sz="7200" u="none" strike="noStrike" spc="-180">
                <a:solidFill>
                  <a:srgbClr val="FFFFFF"/>
                </a:solidFill>
                <a:latin typeface="Barlow"/>
                <a:ea typeface="Barlow"/>
                <a:cs typeface="Barlow"/>
                <a:sym typeface="Barlow"/>
              </a:rPr>
              <a:t>Implementation Roadmap</a:t>
            </a:r>
          </a:p>
        </p:txBody>
      </p:sp>
      <p:sp>
        <p:nvSpPr>
          <p:cNvPr id="3" name="TextBox 3"/>
          <p:cNvSpPr txBox="1"/>
          <p:nvPr/>
        </p:nvSpPr>
        <p:spPr>
          <a:xfrm>
            <a:off x="1394938" y="2533965"/>
            <a:ext cx="15864362" cy="2233295"/>
          </a:xfrm>
          <a:prstGeom prst="rect">
            <a:avLst/>
          </a:prstGeom>
        </p:spPr>
        <p:txBody>
          <a:bodyPr lIns="0" tIns="0" rIns="0" bIns="0" rtlCol="0" anchor="t">
            <a:spAutoFit/>
          </a:bodyPr>
          <a:lstStyle/>
          <a:p>
            <a:pPr marL="0" lvl="0" indent="0" algn="l">
              <a:lnSpc>
                <a:spcPts val="4479"/>
              </a:lnSpc>
              <a:spcBef>
                <a:spcPct val="0"/>
              </a:spcBef>
            </a:pPr>
            <a:r>
              <a:rPr lang="en-US" sz="3199" b="1" spc="-79">
                <a:solidFill>
                  <a:srgbClr val="00E5FF"/>
                </a:solidFill>
                <a:latin typeface="Barlow Bold"/>
                <a:ea typeface="Barlow Bold"/>
                <a:cs typeface="Barlow Bold"/>
                <a:sym typeface="Barlow Bold"/>
              </a:rPr>
              <a:t>RFID-based attendance systems are widely used across differen</a:t>
            </a:r>
            <a:r>
              <a:rPr lang="en-US" sz="3199" b="1" u="none" strike="noStrike" spc="-79">
                <a:solidFill>
                  <a:srgbClr val="00E5FF"/>
                </a:solidFill>
                <a:latin typeface="Barlow Bold"/>
                <a:ea typeface="Barlow Bold"/>
                <a:cs typeface="Barlow Bold"/>
                <a:sym typeface="Barlow Bold"/>
              </a:rPr>
              <a:t>t sectors due to their speed, accuracy, and ease of automation. They simplify attendance tracking, reduce manual effort, and provide secure identification, making them suitable for educational institutions, offices, research facilities, and access-controlled environments.</a:t>
            </a:r>
          </a:p>
        </p:txBody>
      </p:sp>
      <p:sp>
        <p:nvSpPr>
          <p:cNvPr id="4" name="TextBox 4"/>
          <p:cNvSpPr txBox="1"/>
          <p:nvPr/>
        </p:nvSpPr>
        <p:spPr>
          <a:xfrm>
            <a:off x="1394938" y="5414960"/>
            <a:ext cx="7189402" cy="3583497"/>
          </a:xfrm>
          <a:prstGeom prst="rect">
            <a:avLst/>
          </a:prstGeom>
        </p:spPr>
        <p:txBody>
          <a:bodyPr lIns="0" tIns="0" rIns="0" bIns="0" rtlCol="0" anchor="t">
            <a:spAutoFit/>
          </a:bodyPr>
          <a:lstStyle/>
          <a:p>
            <a:pPr marL="0" lvl="0" indent="0" algn="l">
              <a:lnSpc>
                <a:spcPts val="4084"/>
              </a:lnSpc>
              <a:spcBef>
                <a:spcPct val="0"/>
              </a:spcBef>
            </a:pPr>
            <a:r>
              <a:rPr lang="en-US" sz="2917" spc="-72">
                <a:solidFill>
                  <a:srgbClr val="FFFFFF"/>
                </a:solidFill>
                <a:latin typeface="Barlow"/>
                <a:ea typeface="Barlow"/>
                <a:cs typeface="Barlow"/>
                <a:sym typeface="Barlow"/>
              </a:rPr>
              <a:t>Ap</a:t>
            </a:r>
            <a:r>
              <a:rPr lang="en-US" sz="2917" u="none" strike="noStrike" spc="-72">
                <a:solidFill>
                  <a:srgbClr val="FFFFFF"/>
                </a:solidFill>
                <a:latin typeface="Barlow"/>
                <a:ea typeface="Barlow"/>
                <a:cs typeface="Barlow"/>
                <a:sym typeface="Barlow"/>
              </a:rPr>
              <a:t>plications</a:t>
            </a:r>
          </a:p>
          <a:p>
            <a:pPr marL="629879" lvl="1" indent="-314939" algn="l">
              <a:lnSpc>
                <a:spcPts val="4084"/>
              </a:lnSpc>
              <a:spcBef>
                <a:spcPct val="0"/>
              </a:spcBef>
              <a:buFont typeface="Arial"/>
              <a:buChar char="•"/>
            </a:pPr>
            <a:r>
              <a:rPr lang="en-US" sz="2917" u="none" strike="noStrike" spc="-72">
                <a:solidFill>
                  <a:srgbClr val="00B8E6"/>
                </a:solidFill>
                <a:latin typeface="Barlow"/>
                <a:ea typeface="Barlow"/>
                <a:cs typeface="Barlow"/>
                <a:sym typeface="Barlow"/>
              </a:rPr>
              <a:t>Schools, colleges, and training centers</a:t>
            </a:r>
          </a:p>
          <a:p>
            <a:pPr marL="629879" lvl="1" indent="-314939" algn="l">
              <a:lnSpc>
                <a:spcPts val="4084"/>
              </a:lnSpc>
              <a:spcBef>
                <a:spcPct val="0"/>
              </a:spcBef>
              <a:buFont typeface="Arial"/>
              <a:buChar char="•"/>
            </a:pPr>
            <a:r>
              <a:rPr lang="en-US" sz="2917" u="none" strike="noStrike" spc="-72">
                <a:solidFill>
                  <a:srgbClr val="00B8E6"/>
                </a:solidFill>
                <a:latin typeface="Barlow"/>
                <a:ea typeface="Barlow"/>
                <a:cs typeface="Barlow"/>
                <a:sym typeface="Barlow"/>
              </a:rPr>
              <a:t>Corporate offices &amp; IT workplaces</a:t>
            </a:r>
          </a:p>
          <a:p>
            <a:pPr marL="629879" lvl="1" indent="-314939" algn="l">
              <a:lnSpc>
                <a:spcPts val="4084"/>
              </a:lnSpc>
              <a:spcBef>
                <a:spcPct val="0"/>
              </a:spcBef>
              <a:buFont typeface="Arial"/>
              <a:buChar char="•"/>
            </a:pPr>
            <a:r>
              <a:rPr lang="en-US" sz="2917" u="none" strike="noStrike" spc="-72">
                <a:solidFill>
                  <a:srgbClr val="00B8E6"/>
                </a:solidFill>
                <a:latin typeface="Barlow"/>
                <a:ea typeface="Barlow"/>
                <a:cs typeface="Barlow"/>
                <a:sym typeface="Barlow"/>
              </a:rPr>
              <a:t>Laboratories, libraries, hostels</a:t>
            </a:r>
          </a:p>
          <a:p>
            <a:pPr marL="629879" lvl="1" indent="-314939" algn="l">
              <a:lnSpc>
                <a:spcPts val="4084"/>
              </a:lnSpc>
              <a:spcBef>
                <a:spcPct val="0"/>
              </a:spcBef>
              <a:buFont typeface="Arial"/>
              <a:buChar char="•"/>
            </a:pPr>
            <a:r>
              <a:rPr lang="en-US" sz="2917" u="none" strike="noStrike" spc="-72">
                <a:solidFill>
                  <a:srgbClr val="00B8E6"/>
                </a:solidFill>
                <a:latin typeface="Barlow"/>
                <a:ea typeface="Barlow"/>
                <a:cs typeface="Barlow"/>
                <a:sym typeface="Barlow"/>
              </a:rPr>
              <a:t>Gyms, clubs, and membership areas</a:t>
            </a:r>
          </a:p>
          <a:p>
            <a:pPr marL="629879" lvl="1" indent="-314939" algn="l">
              <a:lnSpc>
                <a:spcPts val="4084"/>
              </a:lnSpc>
              <a:spcBef>
                <a:spcPct val="0"/>
              </a:spcBef>
              <a:buFont typeface="Arial"/>
              <a:buChar char="•"/>
            </a:pPr>
            <a:r>
              <a:rPr lang="en-US" sz="2917" u="none" strike="noStrike" spc="-72">
                <a:solidFill>
                  <a:srgbClr val="00B8E6"/>
                </a:solidFill>
                <a:latin typeface="Barlow"/>
                <a:ea typeface="Barlow"/>
                <a:cs typeface="Barlow"/>
                <a:sym typeface="Barlow"/>
              </a:rPr>
              <a:t>Event entry &amp; secure access monitoring</a:t>
            </a:r>
          </a:p>
          <a:p>
            <a:pPr marL="0" lvl="0" indent="0" algn="l">
              <a:lnSpc>
                <a:spcPts val="4084"/>
              </a:lnSpc>
              <a:spcBef>
                <a:spcPct val="0"/>
              </a:spcBef>
            </a:pPr>
            <a:endParaRPr lang="en-US" sz="2917" u="none" strike="noStrike" spc="-72">
              <a:solidFill>
                <a:srgbClr val="00B8E6"/>
              </a:solidFill>
              <a:latin typeface="Barlow"/>
              <a:ea typeface="Barlow"/>
              <a:cs typeface="Barlow"/>
              <a:sym typeface="Barlow"/>
            </a:endParaRPr>
          </a:p>
        </p:txBody>
      </p:sp>
      <p:sp>
        <p:nvSpPr>
          <p:cNvPr id="5" name="TextBox 5"/>
          <p:cNvSpPr txBox="1"/>
          <p:nvPr/>
        </p:nvSpPr>
        <p:spPr>
          <a:xfrm>
            <a:off x="9932854" y="5510210"/>
            <a:ext cx="7326446" cy="2846030"/>
          </a:xfrm>
          <a:prstGeom prst="rect">
            <a:avLst/>
          </a:prstGeom>
        </p:spPr>
        <p:txBody>
          <a:bodyPr lIns="0" tIns="0" rIns="0" bIns="0" rtlCol="0" anchor="t">
            <a:spAutoFit/>
          </a:bodyPr>
          <a:lstStyle/>
          <a:p>
            <a:pPr algn="l">
              <a:lnSpc>
                <a:spcPts val="3228"/>
              </a:lnSpc>
              <a:spcBef>
                <a:spcPct val="0"/>
              </a:spcBef>
            </a:pPr>
            <a:r>
              <a:rPr lang="en-US" sz="3074" spc="-76">
                <a:solidFill>
                  <a:srgbClr val="FFFFFF"/>
                </a:solidFill>
                <a:latin typeface="Barlow"/>
                <a:ea typeface="Barlow"/>
                <a:cs typeface="Barlow"/>
                <a:sym typeface="Barlow"/>
              </a:rPr>
              <a:t>Future Scope</a:t>
            </a:r>
          </a:p>
          <a:p>
            <a:pPr marL="663771" lvl="1" indent="-331885" algn="l">
              <a:lnSpc>
                <a:spcPts val="3228"/>
              </a:lnSpc>
              <a:buFont typeface="Arial"/>
              <a:buChar char="•"/>
            </a:pPr>
            <a:r>
              <a:rPr lang="en-US" sz="3074" spc="-76">
                <a:solidFill>
                  <a:srgbClr val="00B8E6"/>
                </a:solidFill>
                <a:latin typeface="Barlow"/>
                <a:ea typeface="Barlow"/>
                <a:cs typeface="Barlow"/>
                <a:sym typeface="Barlow"/>
              </a:rPr>
              <a:t>Cloud dashboards for real-time analytics</a:t>
            </a:r>
          </a:p>
          <a:p>
            <a:pPr marL="663771" lvl="1" indent="-331885" algn="l">
              <a:lnSpc>
                <a:spcPts val="3228"/>
              </a:lnSpc>
              <a:buFont typeface="Arial"/>
              <a:buChar char="•"/>
            </a:pPr>
            <a:r>
              <a:rPr lang="en-US" sz="3074" spc="-76">
                <a:solidFill>
                  <a:srgbClr val="00B8E6"/>
                </a:solidFill>
                <a:latin typeface="Barlow"/>
                <a:ea typeface="Barlow"/>
                <a:cs typeface="Barlow"/>
                <a:sym typeface="Barlow"/>
              </a:rPr>
              <a:t>Mobile app-based alerts &amp; tracking</a:t>
            </a:r>
          </a:p>
          <a:p>
            <a:pPr marL="663771" lvl="1" indent="-331885" algn="l">
              <a:lnSpc>
                <a:spcPts val="3228"/>
              </a:lnSpc>
              <a:buFont typeface="Arial"/>
              <a:buChar char="•"/>
            </a:pPr>
            <a:r>
              <a:rPr lang="en-US" sz="3074" spc="-76">
                <a:solidFill>
                  <a:srgbClr val="00B8E6"/>
                </a:solidFill>
                <a:latin typeface="Barlow"/>
                <a:ea typeface="Barlow"/>
                <a:cs typeface="Barlow"/>
                <a:sym typeface="Barlow"/>
              </a:rPr>
              <a:t>Biometric + RFID dual verification</a:t>
            </a:r>
          </a:p>
          <a:p>
            <a:pPr marL="663771" lvl="1" indent="-331885" algn="l">
              <a:lnSpc>
                <a:spcPts val="3228"/>
              </a:lnSpc>
              <a:buFont typeface="Arial"/>
              <a:buChar char="•"/>
            </a:pPr>
            <a:r>
              <a:rPr lang="en-US" sz="3074" spc="-76">
                <a:solidFill>
                  <a:srgbClr val="00B8E6"/>
                </a:solidFill>
                <a:latin typeface="Barlow"/>
                <a:ea typeface="Barlow"/>
                <a:cs typeface="Barlow"/>
                <a:sym typeface="Barlow"/>
              </a:rPr>
              <a:t>Long-range RFID for automatic entry</a:t>
            </a:r>
          </a:p>
          <a:p>
            <a:pPr marL="663771" lvl="1" indent="-331885" algn="l">
              <a:lnSpc>
                <a:spcPts val="3228"/>
              </a:lnSpc>
              <a:buFont typeface="Arial"/>
              <a:buChar char="•"/>
            </a:pPr>
            <a:r>
              <a:rPr lang="en-US" sz="3074" spc="-76">
                <a:solidFill>
                  <a:srgbClr val="00B8E6"/>
                </a:solidFill>
                <a:latin typeface="Barlow"/>
                <a:ea typeface="Barlow"/>
                <a:cs typeface="Barlow"/>
                <a:sym typeface="Barlow"/>
              </a:rPr>
              <a:t>Integration with ERP/databases</a:t>
            </a:r>
          </a:p>
          <a:p>
            <a:pPr marL="663771" lvl="1" indent="-331885" algn="l">
              <a:lnSpc>
                <a:spcPts val="3228"/>
              </a:lnSpc>
              <a:buFont typeface="Arial"/>
              <a:buChar char="•"/>
            </a:pPr>
            <a:r>
              <a:rPr lang="en-US" sz="3074" spc="-76">
                <a:solidFill>
                  <a:srgbClr val="00B8E6"/>
                </a:solidFill>
                <a:latin typeface="Barlow"/>
                <a:ea typeface="Barlow"/>
                <a:cs typeface="Barlow"/>
                <a:sym typeface="Barlow"/>
              </a:rPr>
              <a:t>Face recognition + RFID hybrid security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2A50"/>
        </a:solidFill>
        <a:effectLst/>
      </p:bgPr>
    </p:bg>
    <p:spTree>
      <p:nvGrpSpPr>
        <p:cNvPr id="1" name=""/>
        <p:cNvGrpSpPr/>
        <p:nvPr/>
      </p:nvGrpSpPr>
      <p:grpSpPr>
        <a:xfrm>
          <a:off x="0" y="0"/>
          <a:ext cx="0" cy="0"/>
          <a:chOff x="0" y="0"/>
          <a:chExt cx="0" cy="0"/>
        </a:xfrm>
      </p:grpSpPr>
      <p:sp>
        <p:nvSpPr>
          <p:cNvPr id="2" name="TextBox 2"/>
          <p:cNvSpPr txBox="1"/>
          <p:nvPr/>
        </p:nvSpPr>
        <p:spPr>
          <a:xfrm>
            <a:off x="1178722" y="588645"/>
            <a:ext cx="12639675" cy="984885"/>
          </a:xfrm>
          <a:prstGeom prst="rect">
            <a:avLst/>
          </a:prstGeom>
        </p:spPr>
        <p:txBody>
          <a:bodyPr lIns="0" tIns="0" rIns="0" bIns="0" rtlCol="0" anchor="t">
            <a:spAutoFit/>
          </a:bodyPr>
          <a:lstStyle/>
          <a:p>
            <a:pPr marL="0" lvl="0" indent="0" algn="l">
              <a:lnSpc>
                <a:spcPts val="7560"/>
              </a:lnSpc>
              <a:spcBef>
                <a:spcPct val="0"/>
              </a:spcBef>
            </a:pPr>
            <a:r>
              <a:rPr lang="en-US" sz="7200" spc="-180">
                <a:solidFill>
                  <a:srgbClr val="FFFFFF"/>
                </a:solidFill>
                <a:latin typeface="Barlow"/>
                <a:ea typeface="Barlow"/>
                <a:cs typeface="Barlow"/>
                <a:sym typeface="Barlow"/>
              </a:rPr>
              <a:t>Obser</a:t>
            </a:r>
            <a:r>
              <a:rPr lang="en-US" sz="7200" u="none" strike="noStrike" spc="-180">
                <a:solidFill>
                  <a:srgbClr val="FFFFFF"/>
                </a:solidFill>
                <a:latin typeface="Barlow"/>
                <a:ea typeface="Barlow"/>
                <a:cs typeface="Barlow"/>
                <a:sym typeface="Barlow"/>
              </a:rPr>
              <a:t>vations</a:t>
            </a:r>
          </a:p>
        </p:txBody>
      </p:sp>
      <p:sp>
        <p:nvSpPr>
          <p:cNvPr id="3" name="TextBox 3"/>
          <p:cNvSpPr txBox="1"/>
          <p:nvPr/>
        </p:nvSpPr>
        <p:spPr>
          <a:xfrm>
            <a:off x="1178722" y="2168309"/>
            <a:ext cx="14321694" cy="4481195"/>
          </a:xfrm>
          <a:prstGeom prst="rect">
            <a:avLst/>
          </a:prstGeom>
        </p:spPr>
        <p:txBody>
          <a:bodyPr lIns="0" tIns="0" rIns="0" bIns="0" rtlCol="0" anchor="t">
            <a:spAutoFit/>
          </a:bodyPr>
          <a:lstStyle/>
          <a:p>
            <a:pPr algn="l">
              <a:lnSpc>
                <a:spcPts val="4479"/>
              </a:lnSpc>
            </a:pPr>
            <a:r>
              <a:rPr lang="en-US" sz="3199" b="1" spc="-79">
                <a:solidFill>
                  <a:srgbClr val="FFFFFF"/>
                </a:solidFill>
                <a:latin typeface="Barlow Bold"/>
                <a:ea typeface="Barlow Bold"/>
                <a:cs typeface="Barlow Bold"/>
                <a:sym typeface="Barlow Bold"/>
              </a:rPr>
              <a:t>The RFID-based attendance system provides a fast, reliable, and automated method for recording attendance.</a:t>
            </a:r>
          </a:p>
          <a:p>
            <a:pPr algn="l">
              <a:lnSpc>
                <a:spcPts val="4479"/>
              </a:lnSpc>
            </a:pPr>
            <a:r>
              <a:rPr lang="en-US" sz="3199" b="1" spc="-79">
                <a:solidFill>
                  <a:srgbClr val="FFFFFF"/>
                </a:solidFill>
                <a:latin typeface="Barlow Bold"/>
                <a:ea typeface="Barlow Bold"/>
                <a:cs typeface="Barlow Bold"/>
                <a:sym typeface="Barlow Bold"/>
              </a:rPr>
              <a:t> It eliminates manual errors, prevents proxy, and improves workflow</a:t>
            </a:r>
          </a:p>
          <a:p>
            <a:pPr marL="690879" lvl="1" indent="-345439" algn="l">
              <a:lnSpc>
                <a:spcPts val="4479"/>
              </a:lnSpc>
              <a:spcBef>
                <a:spcPct val="0"/>
              </a:spcBef>
              <a:buFont typeface="Arial"/>
              <a:buChar char="•"/>
            </a:pPr>
            <a:r>
              <a:rPr lang="en-US" sz="3199" b="1" u="none" strike="noStrike" spc="-79">
                <a:solidFill>
                  <a:srgbClr val="00E5FF"/>
                </a:solidFill>
                <a:latin typeface="Barlow Bold"/>
                <a:ea typeface="Barlow Bold"/>
                <a:cs typeface="Barlow Bold"/>
                <a:sym typeface="Barlow Bold"/>
              </a:rPr>
              <a:t>System works smoothly when WiFi is connected</a:t>
            </a:r>
          </a:p>
          <a:p>
            <a:pPr marL="690879" lvl="1" indent="-345439" algn="l">
              <a:lnSpc>
                <a:spcPts val="4479"/>
              </a:lnSpc>
              <a:spcBef>
                <a:spcPct val="0"/>
              </a:spcBef>
              <a:buFont typeface="Arial"/>
              <a:buChar char="•"/>
            </a:pPr>
            <a:r>
              <a:rPr lang="en-US" sz="3199" b="1" u="none" strike="noStrike" spc="-79">
                <a:solidFill>
                  <a:srgbClr val="00E5FF"/>
                </a:solidFill>
                <a:latin typeface="Barlow Bold"/>
                <a:ea typeface="Barlow Bold"/>
                <a:cs typeface="Barlow Bold"/>
                <a:sym typeface="Barlow Bold"/>
              </a:rPr>
              <a:t>LCD displays name instantly</a:t>
            </a:r>
          </a:p>
          <a:p>
            <a:pPr marL="690879" lvl="1" indent="-345439" algn="l">
              <a:lnSpc>
                <a:spcPts val="4479"/>
              </a:lnSpc>
              <a:spcBef>
                <a:spcPct val="0"/>
              </a:spcBef>
              <a:buFont typeface="Arial"/>
              <a:buChar char="•"/>
            </a:pPr>
            <a:r>
              <a:rPr lang="en-US" sz="3199" b="1" u="none" strike="noStrike" spc="-79">
                <a:solidFill>
                  <a:srgbClr val="00E5FF"/>
                </a:solidFill>
                <a:latin typeface="Barlow Bold"/>
                <a:ea typeface="Barlow Bold"/>
                <a:cs typeface="Barlow Bold"/>
                <a:sym typeface="Barlow Bold"/>
              </a:rPr>
              <a:t>Buzzer gives confirmation</a:t>
            </a:r>
          </a:p>
          <a:p>
            <a:pPr marL="690879" lvl="1" indent="-345439" algn="l">
              <a:lnSpc>
                <a:spcPts val="4479"/>
              </a:lnSpc>
              <a:spcBef>
                <a:spcPct val="0"/>
              </a:spcBef>
              <a:buFont typeface="Arial"/>
              <a:buChar char="•"/>
            </a:pPr>
            <a:r>
              <a:rPr lang="en-US" sz="3199" b="1" u="none" strike="noStrike" spc="-79">
                <a:solidFill>
                  <a:srgbClr val="00E5FF"/>
                </a:solidFill>
                <a:latin typeface="Barlow Bold"/>
                <a:ea typeface="Barlow Bold"/>
                <a:cs typeface="Barlow Bold"/>
                <a:sym typeface="Barlow Bold"/>
              </a:rPr>
              <a:t>RFID read accuracy is high</a:t>
            </a:r>
          </a:p>
          <a:p>
            <a:pPr marL="0" lvl="0" indent="0" algn="l">
              <a:lnSpc>
                <a:spcPts val="4479"/>
              </a:lnSpc>
              <a:spcBef>
                <a:spcPct val="0"/>
              </a:spcBef>
            </a:pPr>
            <a:endParaRPr lang="en-US" sz="3199" b="1" u="none" strike="noStrike" spc="-79">
              <a:solidFill>
                <a:srgbClr val="00E5FF"/>
              </a:solidFill>
              <a:latin typeface="Barlow Bold"/>
              <a:ea typeface="Barlow Bold"/>
              <a:cs typeface="Barlow Bold"/>
              <a:sym typeface="Barlow Bold"/>
            </a:endParaRPr>
          </a:p>
        </p:txBody>
      </p:sp>
      <p:sp>
        <p:nvSpPr>
          <p:cNvPr id="4" name="TextBox 4"/>
          <p:cNvSpPr txBox="1"/>
          <p:nvPr/>
        </p:nvSpPr>
        <p:spPr>
          <a:xfrm>
            <a:off x="1178722" y="7025004"/>
            <a:ext cx="12639675" cy="2233296"/>
          </a:xfrm>
          <a:prstGeom prst="rect">
            <a:avLst/>
          </a:prstGeom>
        </p:spPr>
        <p:txBody>
          <a:bodyPr lIns="0" tIns="0" rIns="0" bIns="0" rtlCol="0" anchor="t">
            <a:spAutoFit/>
          </a:bodyPr>
          <a:lstStyle/>
          <a:p>
            <a:pPr marL="0" lvl="0" indent="0" algn="l">
              <a:lnSpc>
                <a:spcPts val="4479"/>
              </a:lnSpc>
              <a:spcBef>
                <a:spcPct val="0"/>
              </a:spcBef>
            </a:pPr>
            <a:r>
              <a:rPr lang="en-US" sz="3199" spc="-79">
                <a:solidFill>
                  <a:srgbClr val="FFFFFF"/>
                </a:solidFill>
                <a:latin typeface="Barlow"/>
                <a:ea typeface="Barlow"/>
                <a:cs typeface="Barlow"/>
                <a:sym typeface="Barlow"/>
              </a:rPr>
              <a:t>S</a:t>
            </a:r>
            <a:r>
              <a:rPr lang="en-US" sz="3199" u="none" strike="noStrike" spc="-79">
                <a:solidFill>
                  <a:srgbClr val="FFFFFF"/>
                </a:solidFill>
                <a:latin typeface="Barlow"/>
                <a:ea typeface="Barlow"/>
                <a:cs typeface="Barlow"/>
                <a:sym typeface="Barlow"/>
              </a:rPr>
              <a:t>trengths: Fast, contactless, accurate</a:t>
            </a:r>
          </a:p>
          <a:p>
            <a:pPr marL="0" lvl="0" indent="0" algn="l">
              <a:lnSpc>
                <a:spcPts val="4479"/>
              </a:lnSpc>
              <a:spcBef>
                <a:spcPct val="0"/>
              </a:spcBef>
            </a:pPr>
            <a:r>
              <a:rPr lang="en-US" sz="3199" u="none" strike="noStrike" spc="-79">
                <a:solidFill>
                  <a:srgbClr val="FFFFFF"/>
                </a:solidFill>
                <a:latin typeface="Barlow"/>
                <a:ea typeface="Barlow"/>
                <a:cs typeface="Barlow"/>
                <a:sym typeface="Barlow"/>
              </a:rPr>
              <a:t>Weaknesses: Short range, card damage risk</a:t>
            </a:r>
          </a:p>
          <a:p>
            <a:pPr marL="0" lvl="0" indent="0" algn="l">
              <a:lnSpc>
                <a:spcPts val="4479"/>
              </a:lnSpc>
              <a:spcBef>
                <a:spcPct val="0"/>
              </a:spcBef>
            </a:pPr>
            <a:r>
              <a:rPr lang="en-US" sz="3199" u="none" strike="noStrike" spc="-79">
                <a:solidFill>
                  <a:srgbClr val="FFFFFF"/>
                </a:solidFill>
                <a:latin typeface="Barlow"/>
                <a:ea typeface="Barlow"/>
                <a:cs typeface="Barlow"/>
                <a:sym typeface="Barlow"/>
              </a:rPr>
              <a:t>Opportunities: Expand to labs, hostel, hybrid systems</a:t>
            </a:r>
          </a:p>
          <a:p>
            <a:pPr marL="0" lvl="0" indent="0" algn="l">
              <a:lnSpc>
                <a:spcPts val="4479"/>
              </a:lnSpc>
              <a:spcBef>
                <a:spcPct val="0"/>
              </a:spcBef>
            </a:pPr>
            <a:r>
              <a:rPr lang="en-US" sz="3199" u="none" strike="noStrike" spc="-79">
                <a:solidFill>
                  <a:srgbClr val="FFFFFF"/>
                </a:solidFill>
                <a:latin typeface="Barlow"/>
                <a:ea typeface="Barlow"/>
                <a:cs typeface="Barlow"/>
                <a:sym typeface="Barlow"/>
              </a:rPr>
              <a:t>Threats: RFID cloning, hardware failure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F3D"/>
        </a:solidFill>
        <a:effectLst/>
      </p:bgPr>
    </p:bg>
    <p:spTree>
      <p:nvGrpSpPr>
        <p:cNvPr id="1" name=""/>
        <p:cNvGrpSpPr/>
        <p:nvPr/>
      </p:nvGrpSpPr>
      <p:grpSpPr>
        <a:xfrm>
          <a:off x="0" y="0"/>
          <a:ext cx="0" cy="0"/>
          <a:chOff x="0" y="0"/>
          <a:chExt cx="0" cy="0"/>
        </a:xfrm>
      </p:grpSpPr>
      <p:grpSp>
        <p:nvGrpSpPr>
          <p:cNvPr id="2" name="Group 2"/>
          <p:cNvGrpSpPr/>
          <p:nvPr/>
        </p:nvGrpSpPr>
        <p:grpSpPr>
          <a:xfrm>
            <a:off x="16182975" y="-6934200"/>
            <a:ext cx="18176925" cy="10287000"/>
            <a:chOff x="0" y="0"/>
            <a:chExt cx="4787338" cy="2709333"/>
          </a:xfrm>
        </p:grpSpPr>
        <p:sp>
          <p:nvSpPr>
            <p:cNvPr id="3" name="Freeform 3"/>
            <p:cNvSpPr/>
            <p:nvPr/>
          </p:nvSpPr>
          <p:spPr>
            <a:xfrm>
              <a:off x="0" y="0"/>
              <a:ext cx="4787338" cy="2709333"/>
            </a:xfrm>
            <a:custGeom>
              <a:avLst/>
              <a:gdLst/>
              <a:ahLst/>
              <a:cxnLst/>
              <a:rect l="l" t="t" r="r" b="b"/>
              <a:pathLst>
                <a:path w="4787338" h="2709333">
                  <a:moveTo>
                    <a:pt x="15759" y="0"/>
                  </a:moveTo>
                  <a:lnTo>
                    <a:pt x="4771579" y="0"/>
                  </a:lnTo>
                  <a:cubicBezTo>
                    <a:pt x="4775759" y="0"/>
                    <a:pt x="4779767" y="1660"/>
                    <a:pt x="4782723" y="4616"/>
                  </a:cubicBezTo>
                  <a:cubicBezTo>
                    <a:pt x="4785678" y="7571"/>
                    <a:pt x="4787338" y="11579"/>
                    <a:pt x="4787338" y="15759"/>
                  </a:cubicBezTo>
                  <a:lnTo>
                    <a:pt x="4787338" y="2693574"/>
                  </a:lnTo>
                  <a:cubicBezTo>
                    <a:pt x="4787338" y="2697754"/>
                    <a:pt x="4785678" y="2701762"/>
                    <a:pt x="4782723" y="2704717"/>
                  </a:cubicBezTo>
                  <a:cubicBezTo>
                    <a:pt x="4779767" y="2707673"/>
                    <a:pt x="4775759" y="2709333"/>
                    <a:pt x="4771579" y="2709333"/>
                  </a:cubicBezTo>
                  <a:lnTo>
                    <a:pt x="15759" y="2709333"/>
                  </a:lnTo>
                  <a:cubicBezTo>
                    <a:pt x="7056" y="2709333"/>
                    <a:pt x="0" y="2702278"/>
                    <a:pt x="0" y="2693574"/>
                  </a:cubicBezTo>
                  <a:lnTo>
                    <a:pt x="0" y="15759"/>
                  </a:lnTo>
                  <a:cubicBezTo>
                    <a:pt x="0" y="11579"/>
                    <a:pt x="1660" y="7571"/>
                    <a:pt x="4616" y="4616"/>
                  </a:cubicBezTo>
                  <a:cubicBezTo>
                    <a:pt x="7571" y="1660"/>
                    <a:pt x="11579" y="0"/>
                    <a:pt x="15759" y="0"/>
                  </a:cubicBezTo>
                  <a:close/>
                </a:path>
              </a:pathLst>
            </a:custGeom>
            <a:solidFill>
              <a:srgbClr val="000000">
                <a:alpha val="0"/>
              </a:srgbClr>
            </a:solidFill>
            <a:ln w="28575" cap="rnd">
              <a:solidFill>
                <a:srgbClr val="253439"/>
              </a:solidFill>
              <a:prstDash val="sysDot"/>
              <a:round/>
            </a:ln>
          </p:spPr>
        </p:sp>
        <p:sp>
          <p:nvSpPr>
            <p:cNvPr id="4" name="TextBox 4"/>
            <p:cNvSpPr txBox="1"/>
            <p:nvPr/>
          </p:nvSpPr>
          <p:spPr>
            <a:xfrm>
              <a:off x="0" y="-57150"/>
              <a:ext cx="4787338" cy="2766483"/>
            </a:xfrm>
            <a:prstGeom prst="rect">
              <a:avLst/>
            </a:prstGeom>
          </p:spPr>
          <p:txBody>
            <a:bodyPr lIns="50800" tIns="50800" rIns="50800" bIns="50800" rtlCol="0" anchor="ctr"/>
            <a:lstStyle/>
            <a:p>
              <a:pPr marL="0" lvl="0" indent="0" algn="ctr">
                <a:lnSpc>
                  <a:spcPts val="3359"/>
                </a:lnSpc>
                <a:spcBef>
                  <a:spcPct val="0"/>
                </a:spcBef>
              </a:pPr>
              <a:endParaRPr/>
            </a:p>
          </p:txBody>
        </p:sp>
      </p:grpSp>
      <p:sp>
        <p:nvSpPr>
          <p:cNvPr id="5" name="Freeform 5"/>
          <p:cNvSpPr/>
          <p:nvPr/>
        </p:nvSpPr>
        <p:spPr>
          <a:xfrm>
            <a:off x="17239008" y="666750"/>
            <a:ext cx="382242" cy="382242"/>
          </a:xfrm>
          <a:custGeom>
            <a:avLst/>
            <a:gdLst/>
            <a:ahLst/>
            <a:cxnLst/>
            <a:rect l="l" t="t" r="r" b="b"/>
            <a:pathLst>
              <a:path w="382242" h="382242">
                <a:moveTo>
                  <a:pt x="0" y="0"/>
                </a:moveTo>
                <a:lnTo>
                  <a:pt x="382242" y="0"/>
                </a:lnTo>
                <a:lnTo>
                  <a:pt x="382242" y="382242"/>
                </a:lnTo>
                <a:lnTo>
                  <a:pt x="0" y="3822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740086" y="417816"/>
            <a:ext cx="6886575" cy="984885"/>
          </a:xfrm>
          <a:prstGeom prst="rect">
            <a:avLst/>
          </a:prstGeom>
        </p:spPr>
        <p:txBody>
          <a:bodyPr lIns="0" tIns="0" rIns="0" bIns="0" rtlCol="0" anchor="t">
            <a:spAutoFit/>
          </a:bodyPr>
          <a:lstStyle/>
          <a:p>
            <a:pPr marL="0" lvl="0" indent="0" algn="l">
              <a:lnSpc>
                <a:spcPts val="7560"/>
              </a:lnSpc>
              <a:spcBef>
                <a:spcPct val="0"/>
              </a:spcBef>
            </a:pPr>
            <a:r>
              <a:rPr lang="en-US" sz="7200" spc="-180">
                <a:solidFill>
                  <a:srgbClr val="FFFFFF"/>
                </a:solidFill>
                <a:latin typeface="Barlow"/>
                <a:ea typeface="Barlow"/>
                <a:cs typeface="Barlow"/>
                <a:sym typeface="Barlow"/>
              </a:rPr>
              <a:t>C</a:t>
            </a:r>
            <a:r>
              <a:rPr lang="en-US" sz="7200" u="none" strike="noStrike" spc="-180">
                <a:solidFill>
                  <a:srgbClr val="FFFFFF"/>
                </a:solidFill>
                <a:latin typeface="Barlow"/>
                <a:ea typeface="Barlow"/>
                <a:cs typeface="Barlow"/>
                <a:sym typeface="Barlow"/>
              </a:rPr>
              <a:t>onclusion </a:t>
            </a:r>
          </a:p>
        </p:txBody>
      </p:sp>
      <p:sp>
        <p:nvSpPr>
          <p:cNvPr id="7" name="TextBox 7"/>
          <p:cNvSpPr txBox="1"/>
          <p:nvPr/>
        </p:nvSpPr>
        <p:spPr>
          <a:xfrm>
            <a:off x="740086" y="2307590"/>
            <a:ext cx="16223001" cy="5605145"/>
          </a:xfrm>
          <a:prstGeom prst="rect">
            <a:avLst/>
          </a:prstGeom>
        </p:spPr>
        <p:txBody>
          <a:bodyPr lIns="0" tIns="0" rIns="0" bIns="0" rtlCol="0" anchor="t">
            <a:spAutoFit/>
          </a:bodyPr>
          <a:lstStyle/>
          <a:p>
            <a:pPr marL="0" lvl="0" indent="0" algn="l">
              <a:lnSpc>
                <a:spcPts val="4479"/>
              </a:lnSpc>
              <a:spcBef>
                <a:spcPct val="0"/>
              </a:spcBef>
            </a:pPr>
            <a:r>
              <a:rPr lang="en-US" sz="3199" b="1" spc="-79">
                <a:solidFill>
                  <a:srgbClr val="00B8E6"/>
                </a:solidFill>
                <a:latin typeface="Barlow Bold"/>
                <a:ea typeface="Barlow Bold"/>
                <a:cs typeface="Barlow Bold"/>
                <a:sym typeface="Barlow Bold"/>
              </a:rPr>
              <a:t>The RFID-based attendance system pr</a:t>
            </a:r>
            <a:r>
              <a:rPr lang="en-US" sz="3199" b="1" u="none" strike="noStrike" spc="-79">
                <a:solidFill>
                  <a:srgbClr val="00B8E6"/>
                </a:solidFill>
                <a:latin typeface="Barlow Bold"/>
                <a:ea typeface="Barlow Bold"/>
                <a:cs typeface="Barlow Bold"/>
                <a:sym typeface="Barlow Bold"/>
              </a:rPr>
              <a:t>ovides a fast, reliable, and automated method for recording attendance.</a:t>
            </a:r>
          </a:p>
          <a:p>
            <a:pPr marL="0" lvl="0" indent="0" algn="l">
              <a:lnSpc>
                <a:spcPts val="4479"/>
              </a:lnSpc>
              <a:spcBef>
                <a:spcPct val="0"/>
              </a:spcBef>
            </a:pPr>
            <a:r>
              <a:rPr lang="en-US" sz="3199" b="1" u="none" strike="noStrike" spc="-79">
                <a:solidFill>
                  <a:srgbClr val="00B8E6"/>
                </a:solidFill>
                <a:latin typeface="Barlow Bold"/>
                <a:ea typeface="Barlow Bold"/>
                <a:cs typeface="Barlow Bold"/>
                <a:sym typeface="Barlow Bold"/>
              </a:rPr>
              <a:t> It eliminates manual errors, prevents proxy, and improves workflow efficiency.</a:t>
            </a:r>
          </a:p>
          <a:p>
            <a:pPr marL="0" lvl="0" indent="0" algn="l">
              <a:lnSpc>
                <a:spcPts val="4479"/>
              </a:lnSpc>
              <a:spcBef>
                <a:spcPct val="0"/>
              </a:spcBef>
            </a:pPr>
            <a:r>
              <a:rPr lang="en-US" sz="3199" b="1" u="none" strike="noStrike" spc="-79">
                <a:solidFill>
                  <a:srgbClr val="00B8E6"/>
                </a:solidFill>
                <a:latin typeface="Barlow Bold"/>
                <a:ea typeface="Barlow Bold"/>
                <a:cs typeface="Barlow Bold"/>
                <a:sym typeface="Barlow Bold"/>
              </a:rPr>
              <a:t> The system is:</a:t>
            </a:r>
          </a:p>
          <a:p>
            <a:pPr marL="690879" lvl="1" indent="-345439" algn="l">
              <a:lnSpc>
                <a:spcPts val="4479"/>
              </a:lnSpc>
              <a:spcBef>
                <a:spcPct val="0"/>
              </a:spcBef>
              <a:buFont typeface="Arial"/>
              <a:buChar char="•"/>
            </a:pPr>
            <a:r>
              <a:rPr lang="en-US" sz="3199" b="1" u="none" strike="noStrike" spc="-79">
                <a:solidFill>
                  <a:srgbClr val="00B8E6"/>
                </a:solidFill>
                <a:latin typeface="Barlow Bold"/>
                <a:ea typeface="Barlow Bold"/>
                <a:cs typeface="Barlow Bold"/>
                <a:sym typeface="Barlow Bold"/>
              </a:rPr>
              <a:t>Cost-effective</a:t>
            </a:r>
          </a:p>
          <a:p>
            <a:pPr marL="690879" lvl="1" indent="-345439" algn="l">
              <a:lnSpc>
                <a:spcPts val="4479"/>
              </a:lnSpc>
              <a:spcBef>
                <a:spcPct val="0"/>
              </a:spcBef>
              <a:buFont typeface="Arial"/>
              <a:buChar char="•"/>
            </a:pPr>
            <a:r>
              <a:rPr lang="en-US" sz="3199" b="1" u="none" strike="noStrike" spc="-79">
                <a:solidFill>
                  <a:srgbClr val="00B8E6"/>
                </a:solidFill>
                <a:latin typeface="Barlow Bold"/>
                <a:ea typeface="Barlow Bold"/>
                <a:cs typeface="Barlow Bold"/>
                <a:sym typeface="Barlow Bold"/>
              </a:rPr>
              <a:t>Scalable</a:t>
            </a:r>
          </a:p>
          <a:p>
            <a:pPr marL="690879" lvl="1" indent="-345439" algn="l">
              <a:lnSpc>
                <a:spcPts val="4479"/>
              </a:lnSpc>
              <a:spcBef>
                <a:spcPct val="0"/>
              </a:spcBef>
              <a:buFont typeface="Arial"/>
              <a:buChar char="•"/>
            </a:pPr>
            <a:r>
              <a:rPr lang="en-US" sz="3199" b="1" u="none" strike="noStrike" spc="-79">
                <a:solidFill>
                  <a:srgbClr val="00B8E6"/>
                </a:solidFill>
                <a:latin typeface="Barlow Bold"/>
                <a:ea typeface="Barlow Bold"/>
                <a:cs typeface="Barlow Bold"/>
                <a:sym typeface="Barlow Bold"/>
              </a:rPr>
              <a:t>Easy to implement</a:t>
            </a:r>
          </a:p>
          <a:p>
            <a:pPr marL="690879" lvl="1" indent="-345439" algn="l">
              <a:lnSpc>
                <a:spcPts val="4479"/>
              </a:lnSpc>
              <a:spcBef>
                <a:spcPct val="0"/>
              </a:spcBef>
              <a:buFont typeface="Arial"/>
              <a:buChar char="•"/>
            </a:pPr>
            <a:r>
              <a:rPr lang="en-US" sz="3199" b="1" u="none" strike="noStrike" spc="-79">
                <a:solidFill>
                  <a:srgbClr val="00B8E6"/>
                </a:solidFill>
                <a:latin typeface="Barlow Bold"/>
                <a:ea typeface="Barlow Bold"/>
                <a:cs typeface="Barlow Bold"/>
                <a:sym typeface="Barlow Bold"/>
              </a:rPr>
              <a:t>Suitable for institutions and offices</a:t>
            </a:r>
          </a:p>
          <a:p>
            <a:pPr marL="0" lvl="0" indent="0" algn="l">
              <a:lnSpc>
                <a:spcPts val="4479"/>
              </a:lnSpc>
              <a:spcBef>
                <a:spcPct val="0"/>
              </a:spcBef>
            </a:pPr>
            <a:r>
              <a:rPr lang="en-US" sz="3199" b="1" u="none" strike="noStrike" spc="-79">
                <a:solidFill>
                  <a:srgbClr val="00B8E6"/>
                </a:solidFill>
                <a:latin typeface="Barlow Bold"/>
                <a:ea typeface="Barlow Bold"/>
                <a:cs typeface="Barlow Bold"/>
                <a:sym typeface="Barlow Bold"/>
              </a:rPr>
              <a:t>Future upgrades: mobile app notifications, cloud dashboards, biometric-RFID hybrid.</a:t>
            </a:r>
          </a:p>
          <a:p>
            <a:pPr marL="0" lvl="0" indent="0" algn="l">
              <a:lnSpc>
                <a:spcPts val="4479"/>
              </a:lnSpc>
              <a:spcBef>
                <a:spcPct val="0"/>
              </a:spcBef>
            </a:pPr>
            <a:endParaRPr lang="en-US" sz="3199" b="1" u="none" strike="noStrike" spc="-79">
              <a:solidFill>
                <a:srgbClr val="00B8E6"/>
              </a:solidFill>
              <a:latin typeface="Barlow Bold"/>
              <a:ea typeface="Barlow Bold"/>
              <a:cs typeface="Barlow Bold"/>
              <a:sym typeface="Barlow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404</Words>
  <Application>Microsoft Office PowerPoint</Application>
  <PresentationFormat>Custom</PresentationFormat>
  <Paragraphs>58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Barlow Bold</vt:lpstr>
      <vt:lpstr>Arial</vt:lpstr>
      <vt:lpstr>Barlow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Presented by [Your Name Here] - Date: November 19, 2025</dc:title>
  <dc:creator>user</dc:creator>
  <cp:lastModifiedBy>Titiksha Gupta</cp:lastModifiedBy>
  <cp:revision>2</cp:revision>
  <dcterms:created xsi:type="dcterms:W3CDTF">2006-08-16T00:00:00Z</dcterms:created>
  <dcterms:modified xsi:type="dcterms:W3CDTF">2025-11-21T15:19:12Z</dcterms:modified>
  <dc:identifier>DAG5IaE1gf8</dc:identifier>
</cp:coreProperties>
</file>